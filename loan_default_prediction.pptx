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7" r:id="rId10"/>
    <p:sldId id="268" r:id="rId11"/>
    <p:sldId id="269" r:id="rId12"/>
    <p:sldId id="265" r:id="rId13"/>
  </p:sldIdLst>
  <p:sldSz cx="18288000" cy="10287000"/>
  <p:notesSz cx="6858000" cy="9144000"/>
  <p:embeddedFontLst>
    <p:embeddedFont>
      <p:font typeface="Arial Narrow" pitchFamily="34" charset="0"/>
      <p:regular r:id="rId14"/>
      <p:bold r:id="rId15"/>
      <p:italic r:id="rId16"/>
      <p:boldItalic r:id="rId17"/>
    </p:embeddedFont>
    <p:embeddedFont>
      <p:font typeface="Arial Unicode MS" pitchFamily="34" charset="-128"/>
      <p:regular r:id="rId18"/>
    </p:embeddedFont>
    <p:embeddedFont>
      <p:font typeface="Calibri" pitchFamily="34" charset="0"/>
      <p:regular r:id="rId19"/>
      <p:bold r:id="rId20"/>
      <p:italic r:id="rId21"/>
      <p:boldItalic r:id="rId22"/>
    </p:embeddedFont>
    <p:embeddedFont>
      <p:font typeface="Bahnschrift Light Condensed" pitchFamily="34" charset="0"/>
      <p:regular r:id="rId23"/>
    </p:embeddedFont>
    <p:embeddedFont>
      <p:font typeface="Bahnschrift Light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-81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9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90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 flipH="1">
            <a:off x="9133916" y="1178676"/>
            <a:ext cx="9145756" cy="9162415"/>
          </a:xfrm>
          <a:custGeom>
            <a:avLst/>
            <a:gdLst/>
            <a:ahLst/>
            <a:cxnLst/>
            <a:rect l="l" t="t" r="r" b="b"/>
            <a:pathLst>
              <a:path w="9145756" h="9162415">
                <a:moveTo>
                  <a:pt x="9145757" y="0"/>
                </a:moveTo>
                <a:lnTo>
                  <a:pt x="0" y="0"/>
                </a:lnTo>
                <a:lnTo>
                  <a:pt x="0" y="9162415"/>
                </a:lnTo>
                <a:lnTo>
                  <a:pt x="9145757" y="9162415"/>
                </a:lnTo>
                <a:lnTo>
                  <a:pt x="91457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</a:t>
            </a:r>
            <a:r>
              <a:rPr lang="en-US" sz="1999" b="1" spc="3" dirty="0" smtClean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  <a:endParaRPr lang="en-US" sz="1999" b="1" spc="3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3400" y="833062"/>
            <a:ext cx="14325600" cy="70788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tx2"/>
                </a:solidFill>
              </a:rPr>
              <a:t>      -----IBM PBEL(PROJECT  BASED EXPERIMENTAL  LEARNING)-----</a:t>
            </a:r>
            <a:endParaRPr lang="en-IN" sz="4000" b="1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81700" y="3086100"/>
            <a:ext cx="4267200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Bahnschrift Light" pitchFamily="34" charset="0"/>
              </a:rPr>
              <a:t>    *PROJECT TITLE*</a:t>
            </a:r>
            <a:endParaRPr lang="en-IN" sz="3200" b="1" dirty="0">
              <a:solidFill>
                <a:schemeClr val="tx2">
                  <a:lumMod val="75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95600" y="4229100"/>
            <a:ext cx="11658600" cy="7078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</a:rPr>
              <a:t>  Loan 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D</a:t>
            </a:r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</a:rPr>
              <a:t>efault 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smtClean="0">
                <a:solidFill>
                  <a:schemeClr val="tx2">
                    <a:lumMod val="75000"/>
                  </a:schemeClr>
                </a:solidFill>
              </a:rPr>
              <a:t>Prediction  Using Feature Engineering </a:t>
            </a:r>
            <a:endParaRPr lang="en-IN" sz="4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48800" y="5600700"/>
            <a:ext cx="4038600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</a:rPr>
              <a:t>NAME :PRANDEEP DEBNATH</a:t>
            </a:r>
          </a:p>
          <a:p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</a:rPr>
              <a:t>ID:231001001206</a:t>
            </a:r>
            <a:endParaRPr lang="en-IN" sz="24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11302596" y="1167742"/>
            <a:ext cx="6979048" cy="6991760"/>
          </a:xfrm>
          <a:custGeom>
            <a:avLst/>
            <a:gdLst/>
            <a:ahLst/>
            <a:cxnLst/>
            <a:rect l="l" t="t" r="r" b="b"/>
            <a:pathLst>
              <a:path w="6979048" h="6991760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730913" y="4233347"/>
            <a:ext cx="10557087" cy="6024936"/>
            <a:chOff x="0" y="0"/>
            <a:chExt cx="1635569" cy="9334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35569" cy="933420"/>
            </a:xfrm>
            <a:custGeom>
              <a:avLst/>
              <a:gdLst/>
              <a:ahLst/>
              <a:cxnLst/>
              <a:rect l="l" t="t" r="r" b="b"/>
              <a:pathLst>
                <a:path w="1635569" h="933420">
                  <a:moveTo>
                    <a:pt x="57934" y="0"/>
                  </a:moveTo>
                  <a:lnTo>
                    <a:pt x="1577635" y="0"/>
                  </a:lnTo>
                  <a:cubicBezTo>
                    <a:pt x="1609631" y="0"/>
                    <a:pt x="1635569" y="25938"/>
                    <a:pt x="1635569" y="57934"/>
                  </a:cubicBezTo>
                  <a:lnTo>
                    <a:pt x="1635569" y="875486"/>
                  </a:lnTo>
                  <a:cubicBezTo>
                    <a:pt x="1635569" y="890851"/>
                    <a:pt x="1629465" y="905587"/>
                    <a:pt x="1618601" y="916452"/>
                  </a:cubicBezTo>
                  <a:cubicBezTo>
                    <a:pt x="1607736" y="927316"/>
                    <a:pt x="1593000" y="933420"/>
                    <a:pt x="1577635" y="933420"/>
                  </a:cubicBezTo>
                  <a:lnTo>
                    <a:pt x="57934" y="933420"/>
                  </a:lnTo>
                  <a:cubicBezTo>
                    <a:pt x="42569" y="933420"/>
                    <a:pt x="27833" y="927316"/>
                    <a:pt x="16968" y="916452"/>
                  </a:cubicBezTo>
                  <a:cubicBezTo>
                    <a:pt x="6104" y="905587"/>
                    <a:pt x="0" y="890851"/>
                    <a:pt x="0" y="875486"/>
                  </a:cubicBezTo>
                  <a:lnTo>
                    <a:pt x="0" y="57934"/>
                  </a:lnTo>
                  <a:cubicBezTo>
                    <a:pt x="0" y="42569"/>
                    <a:pt x="6104" y="27833"/>
                    <a:pt x="16968" y="16968"/>
                  </a:cubicBezTo>
                  <a:cubicBezTo>
                    <a:pt x="27833" y="6104"/>
                    <a:pt x="42569" y="0"/>
                    <a:pt x="57934" y="0"/>
                  </a:cubicBezTo>
                  <a:close/>
                </a:path>
              </a:pathLst>
            </a:custGeom>
            <a:blipFill>
              <a:blip r:embed="rId4"/>
              <a:stretch>
                <a:fillRect l="-29851" t="-25796" b="-25796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flipV="1">
            <a:off x="1025014" y="4494954"/>
            <a:ext cx="2750861" cy="2750861"/>
          </a:xfrm>
          <a:custGeom>
            <a:avLst/>
            <a:gdLst/>
            <a:ahLst/>
            <a:cxnLst/>
            <a:rect l="l" t="t" r="r" b="b"/>
            <a:pathLst>
              <a:path w="2750861" h="2750861">
                <a:moveTo>
                  <a:pt x="0" y="2750862"/>
                </a:moveTo>
                <a:lnTo>
                  <a:pt x="2750862" y="2750862"/>
                </a:lnTo>
                <a:lnTo>
                  <a:pt x="2750862" y="0"/>
                </a:lnTo>
                <a:lnTo>
                  <a:pt x="0" y="0"/>
                </a:lnTo>
                <a:lnTo>
                  <a:pt x="0" y="275086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739774" y="650878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</a:t>
            </a:r>
            <a:r>
              <a:rPr lang="en-US" sz="1999" b="1" spc="3" dirty="0" smtClean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  <a:endParaRPr lang="en-US" sz="1999" b="1" spc="3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23044" y="490155"/>
            <a:ext cx="7683947" cy="995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88"/>
              </a:lnSpc>
              <a:spcBef>
                <a:spcPct val="0"/>
              </a:spcBef>
            </a:pPr>
            <a:endParaRPr lang="en-US" sz="2206" b="1" spc="4" dirty="0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62600" y="650878"/>
            <a:ext cx="312420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b="1" dirty="0" err="1" smtClean="0">
                <a:latin typeface="Arial Narrow" pitchFamily="34" charset="0"/>
              </a:rPr>
              <a:t>P</a:t>
            </a:r>
            <a:r>
              <a:rPr lang="en-IN" sz="2800" b="1" dirty="0" err="1">
                <a:solidFill>
                  <a:schemeClr val="tx2"/>
                </a:solidFill>
                <a:latin typeface="Arial Narrow" pitchFamily="34" charset="0"/>
              </a:rPr>
              <a:t>P</a:t>
            </a:r>
            <a:r>
              <a:rPr lang="en-IN" sz="2800" b="1" dirty="0" err="1" smtClean="0">
                <a:solidFill>
                  <a:schemeClr val="tx2"/>
                </a:solidFill>
                <a:latin typeface="Arial Narrow" pitchFamily="34" charset="0"/>
              </a:rPr>
              <a:t>roject</a:t>
            </a:r>
            <a:r>
              <a:rPr lang="en-IN" sz="2800" b="1" dirty="0" smtClean="0">
                <a:solidFill>
                  <a:schemeClr val="tx2"/>
                </a:solidFill>
                <a:latin typeface="Arial Narrow" pitchFamily="34" charset="0"/>
              </a:rPr>
              <a:t>  Agenda</a:t>
            </a:r>
            <a:endParaRPr lang="en-IN" sz="2800" b="1" dirty="0">
              <a:latin typeface="Arial Narrow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2400" y="1485900"/>
            <a:ext cx="12039600" cy="8458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️⃣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 Problem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Definition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Identify potential loan defaulters using applicant and loan-related data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2️⃣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 Data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Collection &amp; Preprocessing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Load dataset, handle missing values, encode categorical data, and scale features</a:t>
            </a: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3️⃣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Feature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Engineering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Create new features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such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as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400" b="1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Total_Income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i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Loan_Income_Ratio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Debt_Term_Ratio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 enhance model performance.</a:t>
            </a: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4️⃣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 Exploratory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 Analysis (EDA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):</a:t>
            </a: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Visualize target distribution, income spread, loan amount trends, and feature correlations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.   </a:t>
            </a:r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5️⃣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Model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Development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Train a Random Forest Classifier on engineered features for accurate default prediction.</a:t>
            </a: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6️⃣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Model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Evaluation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</a:p>
          <a:p>
            <a:pPr algn="ctr"/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Assess performance using accuracy, classification report, and feature importance.</a:t>
            </a: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g</a:t>
            </a:r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57800" y="613673"/>
            <a:ext cx="4343400" cy="597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 smtClean="0"/>
              <a:t>📌   Project  Agenda</a:t>
            </a:r>
            <a:endParaRPr lang="en-IN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 flipV="1">
            <a:off x="83995" y="1104323"/>
            <a:ext cx="8558066" cy="8573655"/>
          </a:xfrm>
          <a:custGeom>
            <a:avLst/>
            <a:gdLst/>
            <a:ahLst/>
            <a:cxnLst/>
            <a:rect l="l" t="t" r="r" b="b"/>
            <a:pathLst>
              <a:path w="8558066" h="8573655">
                <a:moveTo>
                  <a:pt x="0" y="8573655"/>
                </a:moveTo>
                <a:lnTo>
                  <a:pt x="8558066" y="8573655"/>
                </a:lnTo>
                <a:lnTo>
                  <a:pt x="8558066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</a:t>
            </a:r>
            <a:r>
              <a:rPr lang="en-US" sz="1999" b="1" spc="3" dirty="0" smtClean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  <a:endParaRPr lang="en-US" sz="1999" b="1" spc="3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3" name="Freeform 13"/>
          <p:cNvSpPr/>
          <p:nvPr/>
        </p:nvSpPr>
        <p:spPr>
          <a:xfrm flipV="1">
            <a:off x="9793293" y="5707415"/>
            <a:ext cx="7358247" cy="7358247"/>
          </a:xfrm>
          <a:custGeom>
            <a:avLst/>
            <a:gdLst/>
            <a:ahLst/>
            <a:cxnLst/>
            <a:rect l="l" t="t" r="r" b="b"/>
            <a:pathLst>
              <a:path w="7358247" h="7358247">
                <a:moveTo>
                  <a:pt x="0" y="7358246"/>
                </a:moveTo>
                <a:lnTo>
                  <a:pt x="7358246" y="7358246"/>
                </a:lnTo>
                <a:lnTo>
                  <a:pt x="7358246" y="0"/>
                </a:lnTo>
                <a:lnTo>
                  <a:pt x="0" y="0"/>
                </a:lnTo>
                <a:lnTo>
                  <a:pt x="0" y="73582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410540" y="2454224"/>
            <a:ext cx="5741000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04"/>
              </a:lnSpc>
            </a:pPr>
            <a:endParaRPr lang="en-US" sz="6641" spc="-312" dirty="0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00400" y="542835"/>
            <a:ext cx="3962400" cy="120032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    🏦    Introduction </a:t>
            </a:r>
            <a:endParaRPr lang="en-US" sz="3600" b="1" dirty="0">
              <a:solidFill>
                <a:schemeClr val="bg1"/>
              </a:solidFill>
            </a:endParaRPr>
          </a:p>
          <a:p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2000" y="2019300"/>
            <a:ext cx="88392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Loan default prediction plays a vital role in the financial sector by enabling institutions to assess credit risk effectively and minimize potential losses</a:t>
            </a:r>
            <a:r>
              <a:rPr lang="en-US" sz="2800" b="1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This project employs Python-based data analysis and machine learning techniques to determine whether a loan applicant is likely to default or successfully repay the loan</a:t>
            </a:r>
            <a:r>
              <a:rPr lang="en-US" sz="2800" b="1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Feature engineering techniques are utilized to enhance model performance by generating additional informative variables, such as Total Income and the Loan-to-Income Ratio.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IN" sz="2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3074" name="Picture 2" descr="C:\Users\PARAMITA\Pictures\Screenshots\Screenshot (129)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3850" y="2000250"/>
            <a:ext cx="5934075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7876765" y="319853"/>
            <a:ext cx="10458860" cy="10477911"/>
          </a:xfrm>
          <a:custGeom>
            <a:avLst/>
            <a:gdLst/>
            <a:ahLst/>
            <a:cxnLst/>
            <a:rect l="l" t="t" r="r" b="b"/>
            <a:pathLst>
              <a:path w="10458860" h="10477911">
                <a:moveTo>
                  <a:pt x="10458860" y="0"/>
                </a:moveTo>
                <a:lnTo>
                  <a:pt x="0" y="0"/>
                </a:lnTo>
                <a:lnTo>
                  <a:pt x="0" y="10477911"/>
                </a:lnTo>
                <a:lnTo>
                  <a:pt x="10458860" y="10477911"/>
                </a:lnTo>
                <a:lnTo>
                  <a:pt x="104588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1028700" y="1970882"/>
            <a:ext cx="2750861" cy="2750861"/>
          </a:xfrm>
          <a:custGeom>
            <a:avLst/>
            <a:gdLst/>
            <a:ahLst/>
            <a:cxnLst/>
            <a:rect l="l" t="t" r="r" b="b"/>
            <a:pathLst>
              <a:path w="2750861" h="2750861">
                <a:moveTo>
                  <a:pt x="2750861" y="2750861"/>
                </a:moveTo>
                <a:lnTo>
                  <a:pt x="0" y="2750861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730249" y="663200"/>
            <a:ext cx="142129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 dirty="0">
                <a:solidFill>
                  <a:schemeClr val="tx2">
                    <a:lumMod val="40000"/>
                    <a:lumOff val="60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8600" y="1309828"/>
            <a:ext cx="8077200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IN" sz="4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⚙ </a:t>
            </a:r>
            <a:r>
              <a:rPr lang="en-IN" sz="40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Tools and Technologies used</a:t>
            </a:r>
            <a:endParaRPr lang="en-IN" sz="4000" b="1" dirty="0">
              <a:solidFill>
                <a:schemeClr val="tx2">
                  <a:lumMod val="40000"/>
                  <a:lumOff val="60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53000" y="2188654"/>
            <a:ext cx="7620000" cy="784830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🔹  Programming </a:t>
            </a:r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Language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Python</a:t>
            </a:r>
          </a:p>
          <a:p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🔹 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Data </a:t>
            </a:r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Handling &amp; Analysis: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pandas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numpy</a:t>
            </a:r>
            <a:endParaRPr lang="en-IN" sz="24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IN" sz="24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🔹 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Data </a:t>
            </a:r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Visualization: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 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matplotlib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seaborn</a:t>
            </a:r>
            <a:endParaRPr lang="en-IN" sz="24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IN" sz="24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🔹 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Machine </a:t>
            </a:r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Learning &amp; </a:t>
            </a:r>
            <a:r>
              <a:rPr lang="en-IN" sz="2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Modeling</a:t>
            </a:r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 </a:t>
            </a:r>
            <a:r>
              <a:rPr lang="en-IN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scikit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-learn</a:t>
            </a:r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/>
            </a:r>
            <a:b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</a:t>
            </a:r>
            <a:r>
              <a:rPr lang="en-IN" sz="2400" b="1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(</a:t>
            </a:r>
            <a:r>
              <a:rPr lang="en-IN" sz="2400" b="1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train_test_split</a:t>
            </a:r>
            <a:r>
              <a:rPr lang="en-IN" sz="2400" b="1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2400" b="1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RandomForestClassifier</a:t>
            </a:r>
            <a:r>
              <a:rPr lang="en-IN" sz="2400" b="1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2400" b="1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StandardScaler</a:t>
            </a:r>
            <a:r>
              <a:rPr lang="en-IN" sz="2400" b="1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2400" b="1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LabelEncoder</a:t>
            </a:r>
            <a:r>
              <a:rPr lang="en-IN" sz="2400" b="1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, metrics</a:t>
            </a:r>
            <a:r>
              <a:rPr lang="en-IN" sz="2400" b="1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IN" sz="2400" b="1" i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🔹 </a:t>
            </a:r>
            <a:r>
              <a:rPr lang="en-IN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Development </a:t>
            </a:r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Environment: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Jupyter</a:t>
            </a:r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Notebook </a:t>
            </a:r>
          </a:p>
        </p:txBody>
      </p:sp>
      <p:pic>
        <p:nvPicPr>
          <p:cNvPr id="2050" name="Picture 2" descr="C:\Users\PARAMITA\Pictures\Screenshots\Screenshot (128)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030" y="5143500"/>
            <a:ext cx="23622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 flipV="1">
            <a:off x="-11255" y="424013"/>
            <a:ext cx="8558066" cy="8573655"/>
          </a:xfrm>
          <a:custGeom>
            <a:avLst/>
            <a:gdLst/>
            <a:ahLst/>
            <a:cxnLst/>
            <a:rect l="l" t="t" r="r" b="b"/>
            <a:pathLst>
              <a:path w="8558066" h="8573655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2274866" y="4625645"/>
            <a:ext cx="5653784" cy="5653784"/>
          </a:xfrm>
          <a:custGeom>
            <a:avLst/>
            <a:gdLst/>
            <a:ahLst/>
            <a:cxnLst/>
            <a:rect l="l" t="t" r="r" b="b"/>
            <a:pathLst>
              <a:path w="5653784" h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800" y="563771"/>
            <a:ext cx="12420600" cy="646331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sz="3600" b="1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🧠        </a:t>
            </a:r>
            <a:r>
              <a:rPr lang="en-US" sz="3600" b="1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Libraries </a:t>
            </a:r>
            <a:r>
              <a:rPr lang="en-US" sz="3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Supporting Data Analysis and Model Building</a:t>
            </a:r>
            <a:endParaRPr lang="en-IN" sz="36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47800" y="1943100"/>
            <a:ext cx="7848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pandas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– Used for structured data loading, cleaning, and manipulation</a:t>
            </a:r>
            <a:r>
              <a:rPr lang="en-US" sz="28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err="1">
                <a:solidFill>
                  <a:schemeClr val="bg1">
                    <a:lumMod val="85000"/>
                  </a:schemeClr>
                </a:solidFill>
              </a:rPr>
              <a:t>NumPy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– Provides efficient mathematical and numerical array operations</a:t>
            </a:r>
            <a:r>
              <a:rPr lang="en-US" sz="28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err="1">
                <a:solidFill>
                  <a:schemeClr val="bg1">
                    <a:lumMod val="85000"/>
                  </a:schemeClr>
                </a:solidFill>
              </a:rPr>
              <a:t>matplotlib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– Used for visualizing data trends through various charts and plots</a:t>
            </a:r>
            <a:r>
              <a:rPr lang="en-US" sz="28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err="1">
                <a:solidFill>
                  <a:schemeClr val="bg1">
                    <a:lumMod val="85000"/>
                  </a:schemeClr>
                </a:solidFill>
              </a:rPr>
              <a:t>seaborn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– Enhances statistical data visualization with advanced plots and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</a:rPr>
              <a:t>heatmaps</a:t>
            </a:r>
            <a:r>
              <a:rPr lang="en-US" sz="28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b="1" dirty="0" err="1">
                <a:solidFill>
                  <a:schemeClr val="bg1">
                    <a:lumMod val="85000"/>
                  </a:schemeClr>
                </a:solidFill>
              </a:rPr>
              <a:t>scikit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-learn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 – Offers tools for preprocessing, model building, and performance evaluation.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4098" name="Picture 2" descr="C:\Users\PARAMITA\Pictures\Screenshots\Screenshot (130)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729" y="1415190"/>
            <a:ext cx="4548059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 flipH="1" flipV="1">
            <a:off x="1204898" y="1559527"/>
            <a:ext cx="7962927" cy="7962927"/>
          </a:xfrm>
          <a:custGeom>
            <a:avLst/>
            <a:gdLst/>
            <a:ahLst/>
            <a:cxnLst/>
            <a:rect l="l" t="t" r="r" b="b"/>
            <a:pathLst>
              <a:path w="7962927" h="7962927">
                <a:moveTo>
                  <a:pt x="7962927" y="7962927"/>
                </a:moveTo>
                <a:lnTo>
                  <a:pt x="0" y="7962927"/>
                </a:lnTo>
                <a:lnTo>
                  <a:pt x="0" y="0"/>
                </a:lnTo>
                <a:lnTo>
                  <a:pt x="7962927" y="0"/>
                </a:lnTo>
                <a:lnTo>
                  <a:pt x="7962927" y="796292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</a:t>
            </a:r>
            <a:r>
              <a:rPr lang="en-US" sz="1999" b="1" spc="3" dirty="0" smtClean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  <a:endParaRPr lang="en-US" sz="1999" b="1" spc="3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4" name="Freeform 14"/>
          <p:cNvSpPr/>
          <p:nvPr/>
        </p:nvSpPr>
        <p:spPr>
          <a:xfrm rot="-5400000" flipH="1">
            <a:off x="9990854" y="2195209"/>
            <a:ext cx="8540337" cy="7643245"/>
          </a:xfrm>
          <a:custGeom>
            <a:avLst/>
            <a:gdLst/>
            <a:ahLst/>
            <a:cxnLst/>
            <a:rect l="l" t="t" r="r" b="b"/>
            <a:pathLst>
              <a:path w="7629348" h="7643245">
                <a:moveTo>
                  <a:pt x="7629349" y="0"/>
                </a:moveTo>
                <a:lnTo>
                  <a:pt x="0" y="0"/>
                </a:lnTo>
                <a:lnTo>
                  <a:pt x="0" y="7643245"/>
                </a:lnTo>
                <a:lnTo>
                  <a:pt x="7629349" y="7643245"/>
                </a:lnTo>
                <a:lnTo>
                  <a:pt x="76293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4648199" y="552520"/>
            <a:ext cx="4519625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b="1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Light Condensed" pitchFamily="34" charset="0"/>
              </a:rPr>
              <a:t>      Code </a:t>
            </a:r>
            <a:r>
              <a:rPr lang="en-US" sz="4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Bahnschrift Light Condensed" pitchFamily="34" charset="0"/>
              </a:rPr>
              <a:t>Explanation</a:t>
            </a:r>
            <a:endParaRPr lang="en-IN" sz="4400" b="1" dirty="0">
              <a:solidFill>
                <a:schemeClr val="tx2">
                  <a:lumMod val="60000"/>
                  <a:lumOff val="40000"/>
                </a:schemeClr>
              </a:solidFill>
              <a:latin typeface="Bahnschrift Light Condensed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3450" y="1559527"/>
            <a:ext cx="11715750" cy="7317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pandas (</a:t>
            </a:r>
            <a:r>
              <a:rPr lang="en-US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pd</a:t>
            </a: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):</a:t>
            </a:r>
            <a:b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sz="2400" b="1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Used </a:t>
            </a: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for loading CSV files, cleaning data, and creating new engineered features</a:t>
            </a:r>
            <a:r>
              <a:rPr lang="en-US" sz="2400" b="1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numpy</a:t>
            </a: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(</a:t>
            </a:r>
            <a:r>
              <a:rPr lang="en-US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np</a:t>
            </a: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):</a:t>
            </a:r>
            <a:b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Supports mathematical operations while calculating EMI, total income, balance income, etc</a:t>
            </a:r>
            <a:r>
              <a:rPr lang="en-US" sz="2400" b="1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train_test_split</a:t>
            </a: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</a:t>
            </a:r>
            <a:b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Splits the dataset into training and testing parts to evaluate model performance</a:t>
            </a:r>
            <a:r>
              <a:rPr lang="en-US" sz="2400" b="1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LogisticRegression</a:t>
            </a:r>
            <a:r>
              <a:rPr lang="en-IN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():</a:t>
            </a:r>
            <a:br>
              <a:rPr lang="en-IN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IN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Builds a classification model to predict default probability</a:t>
            </a:r>
            <a:r>
              <a:rPr lang="en-IN" sz="2400" b="1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DecisionTreeClassifier</a:t>
            </a: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():</a:t>
            </a:r>
            <a:b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Creates a tree-based model to learn decision rules from data</a:t>
            </a:r>
            <a:r>
              <a:rPr lang="en-US" sz="2400" b="1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RandomForestClassifier</a:t>
            </a: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():</a:t>
            </a:r>
            <a:b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Uses multiple decision trees to improve accuracy and reduce </a:t>
            </a:r>
            <a:r>
              <a:rPr lang="en-US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overfitting</a:t>
            </a:r>
            <a:r>
              <a:rPr lang="en-US" sz="2400" b="1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predict_default</a:t>
            </a: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 function:</a:t>
            </a:r>
            <a:b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Applies the same feature engineering on user inputs and predicts whether the loan will default.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matplotlib</a:t>
            </a: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/ </a:t>
            </a:r>
            <a:r>
              <a:rPr lang="en-US" sz="24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seaborn</a:t>
            </a: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:</a:t>
            </a:r>
            <a:b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Used for plotting graphs (histograms, bar charts, trends) for data understanding.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sz="24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 flipV="1">
            <a:off x="45896" y="-7793"/>
            <a:ext cx="8558066" cy="8573655"/>
          </a:xfrm>
          <a:custGeom>
            <a:avLst/>
            <a:gdLst/>
            <a:ahLst/>
            <a:cxnLst/>
            <a:rect l="l" t="t" r="r" b="b"/>
            <a:pathLst>
              <a:path w="8558066" h="8573655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10334288" y="2684740"/>
            <a:ext cx="7420312" cy="7420312"/>
          </a:xfrm>
          <a:custGeom>
            <a:avLst/>
            <a:gdLst/>
            <a:ahLst/>
            <a:cxnLst/>
            <a:rect l="l" t="t" r="r" b="b"/>
            <a:pathLst>
              <a:path w="7420312" h="7420312">
                <a:moveTo>
                  <a:pt x="0" y="7420312"/>
                </a:moveTo>
                <a:lnTo>
                  <a:pt x="7420312" y="7420312"/>
                </a:lnTo>
                <a:lnTo>
                  <a:pt x="7420312" y="0"/>
                </a:lnTo>
                <a:lnTo>
                  <a:pt x="0" y="0"/>
                </a:lnTo>
                <a:lnTo>
                  <a:pt x="0" y="742031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7302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</a:t>
            </a:r>
            <a:r>
              <a:rPr lang="en-US" sz="1999" b="1" spc="3" dirty="0" smtClean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</a:t>
            </a:r>
            <a:endParaRPr lang="en-US" sz="1999" b="1" spc="3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43200" y="340034"/>
            <a:ext cx="9829800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tx2"/>
                </a:solidFill>
                <a:latin typeface="Bahnschrift Light" pitchFamily="34" charset="0"/>
              </a:rPr>
              <a:t>   Graphical Representation-Part 1</a:t>
            </a:r>
            <a:endParaRPr lang="en-IN" sz="4800" b="1" dirty="0">
              <a:solidFill>
                <a:schemeClr val="tx2"/>
              </a:solidFill>
              <a:latin typeface="Bahnschrift Light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" y="2233444"/>
            <a:ext cx="9867901" cy="71772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1000" y="1638300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IN" sz="2800" b="1" dirty="0" smtClean="0">
                <a:solidFill>
                  <a:schemeClr val="tx2"/>
                </a:solidFill>
              </a:rPr>
              <a:t>Bar plot</a:t>
            </a: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896600" y="2161520"/>
            <a:ext cx="32766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Courier New" pitchFamily="49" charset="0"/>
              <a:buChar char="o"/>
            </a:pPr>
            <a:r>
              <a:rPr lang="en-IN" sz="2800" b="1" dirty="0" smtClean="0">
                <a:solidFill>
                  <a:schemeClr val="tx2"/>
                </a:solidFill>
              </a:rPr>
              <a:t>OBSERVATIONS</a:t>
            </a: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896600" y="3086100"/>
            <a:ext cx="685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The number of </a:t>
            </a:r>
            <a:r>
              <a:rPr lang="en-US" sz="2000" b="1" dirty="0">
                <a:solidFill>
                  <a:schemeClr val="bg1"/>
                </a:solidFill>
              </a:rPr>
              <a:t>‘Y’ (loan approved / non-default)</a:t>
            </a:r>
            <a:r>
              <a:rPr lang="en-US" sz="2000" dirty="0">
                <a:solidFill>
                  <a:schemeClr val="bg1"/>
                </a:solidFill>
              </a:rPr>
              <a:t> cases is </a:t>
            </a:r>
            <a:r>
              <a:rPr lang="en-US" sz="2000" b="1" dirty="0">
                <a:solidFill>
                  <a:schemeClr val="bg1"/>
                </a:solidFill>
              </a:rPr>
              <a:t>significantly higher</a:t>
            </a:r>
            <a:r>
              <a:rPr lang="en-US" sz="2000" dirty="0">
                <a:solidFill>
                  <a:schemeClr val="bg1"/>
                </a:solidFill>
              </a:rPr>
              <a:t> than the number of </a:t>
            </a:r>
            <a:r>
              <a:rPr lang="en-US" sz="2000" b="1" dirty="0">
                <a:solidFill>
                  <a:schemeClr val="bg1"/>
                </a:solidFill>
              </a:rPr>
              <a:t>‘N’ (loan rejected / default)</a:t>
            </a:r>
            <a:r>
              <a:rPr lang="en-US" sz="2000" dirty="0">
                <a:solidFill>
                  <a:schemeClr val="bg1"/>
                </a:solidFill>
              </a:rPr>
              <a:t> cases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This indicates a </a:t>
            </a:r>
            <a:r>
              <a:rPr lang="en-US" sz="2000" b="1" dirty="0">
                <a:solidFill>
                  <a:schemeClr val="bg1"/>
                </a:solidFill>
              </a:rPr>
              <a:t>class imbalance</a:t>
            </a:r>
            <a:r>
              <a:rPr lang="en-US" sz="2000" dirty="0">
                <a:solidFill>
                  <a:schemeClr val="bg1"/>
                </a:solidFill>
              </a:rPr>
              <a:t> in the dataset — the dataset contains </a:t>
            </a:r>
            <a:r>
              <a:rPr lang="en-US" sz="2000" b="1" dirty="0">
                <a:solidFill>
                  <a:schemeClr val="bg1"/>
                </a:solidFill>
              </a:rPr>
              <a:t>more non-default cases</a:t>
            </a:r>
            <a:r>
              <a:rPr lang="en-US" sz="2000" dirty="0">
                <a:solidFill>
                  <a:schemeClr val="bg1"/>
                </a:solidFill>
              </a:rPr>
              <a:t> than default cases.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6146" name="Picture 2" descr="C:\Users\PARAMITA\Pictures\Screenshots\Screenshot (132)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8" y="8558068"/>
            <a:ext cx="2081209" cy="1424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202146" y="-426894"/>
            <a:ext cx="8558066" cy="8573655"/>
          </a:xfrm>
          <a:custGeom>
            <a:avLst/>
            <a:gdLst/>
            <a:ahLst/>
            <a:cxnLst/>
            <a:rect l="l" t="t" r="r" b="b"/>
            <a:pathLst>
              <a:path w="8558066" h="8573655">
                <a:moveTo>
                  <a:pt x="0" y="0"/>
                </a:moveTo>
                <a:lnTo>
                  <a:pt x="8558067" y="0"/>
                </a:lnTo>
                <a:lnTo>
                  <a:pt x="8558067" y="8573655"/>
                </a:lnTo>
                <a:lnTo>
                  <a:pt x="0" y="857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 b="1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730249" y="663200"/>
            <a:ext cx="1421291" cy="32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1" spc="3" dirty="0">
                <a:solidFill>
                  <a:schemeClr val="tx2">
                    <a:lumMod val="7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</a:t>
            </a:r>
            <a:r>
              <a:rPr lang="en-US" b="1" spc="3" dirty="0" smtClean="0">
                <a:solidFill>
                  <a:schemeClr val="tx2">
                    <a:lumMod val="7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</a:t>
            </a:r>
            <a:endParaRPr lang="en-US" b="1" spc="3" dirty="0">
              <a:solidFill>
                <a:schemeClr val="tx2">
                  <a:lumMod val="7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3" name="Freeform 13"/>
          <p:cNvSpPr/>
          <p:nvPr/>
        </p:nvSpPr>
        <p:spPr>
          <a:xfrm rot="-5400000" flipH="1" flipV="1">
            <a:off x="-410071" y="4302888"/>
            <a:ext cx="6611341" cy="6611341"/>
          </a:xfrm>
          <a:custGeom>
            <a:avLst/>
            <a:gdLst/>
            <a:ahLst/>
            <a:cxnLst/>
            <a:rect l="l" t="t" r="r" b="b"/>
            <a:pathLst>
              <a:path w="6611341" h="6611341">
                <a:moveTo>
                  <a:pt x="6611341" y="6611341"/>
                </a:moveTo>
                <a:lnTo>
                  <a:pt x="0" y="6611341"/>
                </a:lnTo>
                <a:lnTo>
                  <a:pt x="0" y="0"/>
                </a:lnTo>
                <a:lnTo>
                  <a:pt x="6611341" y="0"/>
                </a:lnTo>
                <a:lnTo>
                  <a:pt x="6611341" y="661134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86000" y="576467"/>
            <a:ext cx="8458200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tx2">
                    <a:lumMod val="75000"/>
                  </a:schemeClr>
                </a:solidFill>
                <a:latin typeface="Bahnschrift Light" pitchFamily="34" charset="0"/>
              </a:rPr>
              <a:t>Graphical  Representation-Part2</a:t>
            </a:r>
            <a:endParaRPr lang="en-IN" sz="4000" b="1" dirty="0">
              <a:solidFill>
                <a:schemeClr val="tx2">
                  <a:lumMod val="75000"/>
                </a:schemeClr>
              </a:solidFill>
              <a:latin typeface="Bahnschrift Light" pitchFamily="34" charset="0"/>
            </a:endParaRPr>
          </a:p>
        </p:txBody>
      </p:sp>
      <p:pic>
        <p:nvPicPr>
          <p:cNvPr id="2050" name="Picture 2" descr="C:\Users\PARAMITA\Pictures\Screenshots\Screenshot (117)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2552700"/>
            <a:ext cx="8782050" cy="657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361950" y="1905000"/>
            <a:ext cx="2533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IN" sz="3200" b="1" dirty="0" smtClean="0">
                <a:solidFill>
                  <a:schemeClr val="tx2">
                    <a:lumMod val="75000"/>
                  </a:schemeClr>
                </a:solidFill>
              </a:rPr>
              <a:t>Histogram</a:t>
            </a:r>
            <a:endParaRPr lang="en-IN"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72600" y="2152650"/>
            <a:ext cx="27432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IN" sz="2800" b="1" dirty="0" smtClean="0">
                <a:solidFill>
                  <a:schemeClr val="tx2">
                    <a:lumMod val="75000"/>
                  </a:schemeClr>
                </a:solidFill>
              </a:rPr>
              <a:t>Observations</a:t>
            </a:r>
            <a:endParaRPr lang="en-IN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199" y="3086100"/>
            <a:ext cx="779940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Distribution </a:t>
            </a:r>
            <a:r>
              <a:rPr lang="en-US" b="1" dirty="0" smtClean="0">
                <a:solidFill>
                  <a:schemeClr val="bg1"/>
                </a:solidFill>
              </a:rPr>
              <a:t>Shape</a:t>
            </a: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 smtClean="0">
                <a:solidFill>
                  <a:schemeClr val="bg1"/>
                </a:solidFill>
              </a:rPr>
              <a:t>  The </a:t>
            </a:r>
            <a:r>
              <a:rPr lang="en-US" dirty="0">
                <a:solidFill>
                  <a:schemeClr val="bg1"/>
                </a:solidFill>
              </a:rPr>
              <a:t>distribution is </a:t>
            </a:r>
            <a:r>
              <a:rPr lang="en-US" b="1" dirty="0">
                <a:solidFill>
                  <a:schemeClr val="bg1"/>
                </a:solidFill>
              </a:rPr>
              <a:t>roughly bell-shaped</a:t>
            </a:r>
            <a:r>
              <a:rPr lang="en-US" dirty="0">
                <a:solidFill>
                  <a:schemeClr val="bg1"/>
                </a:solidFill>
              </a:rPr>
              <a:t> → </a:t>
            </a:r>
            <a:r>
              <a:rPr lang="en-US" b="1" dirty="0">
                <a:solidFill>
                  <a:schemeClr val="bg1"/>
                </a:solidFill>
              </a:rPr>
              <a:t>close to normal distribution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but </a:t>
            </a:r>
            <a:r>
              <a:rPr lang="en-US" b="1" dirty="0">
                <a:solidFill>
                  <a:schemeClr val="bg1"/>
                </a:solidFill>
              </a:rPr>
              <a:t>slightly right-skewed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 smtClean="0">
                <a:solidFill>
                  <a:schemeClr val="bg1"/>
                </a:solidFill>
              </a:rPr>
              <a:t>  A </a:t>
            </a:r>
            <a:r>
              <a:rPr lang="en-US" dirty="0">
                <a:solidFill>
                  <a:schemeClr val="bg1"/>
                </a:solidFill>
              </a:rPr>
              <a:t>mild right skew means a few applicants have </a:t>
            </a:r>
            <a:r>
              <a:rPr lang="en-US" b="1" dirty="0">
                <a:solidFill>
                  <a:schemeClr val="bg1"/>
                </a:solidFill>
              </a:rPr>
              <a:t>very high total income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bg1"/>
                </a:solidFill>
              </a:rPr>
              <a:t>  Income Range</a:t>
            </a: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 smtClean="0">
                <a:solidFill>
                  <a:schemeClr val="bg1"/>
                </a:solidFill>
              </a:rPr>
              <a:t>   Total </a:t>
            </a:r>
            <a:r>
              <a:rPr lang="en-US" dirty="0">
                <a:solidFill>
                  <a:schemeClr val="bg1"/>
                </a:solidFill>
              </a:rPr>
              <a:t>income values appear to lie mostly between </a:t>
            </a:r>
            <a:r>
              <a:rPr lang="en-US" b="1" dirty="0">
                <a:solidFill>
                  <a:schemeClr val="bg1"/>
                </a:solidFill>
              </a:rPr>
              <a:t>5,000 to 30,000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 smtClean="0">
                <a:solidFill>
                  <a:schemeClr val="bg1"/>
                </a:solidFill>
              </a:rPr>
              <a:t>    Very </a:t>
            </a:r>
            <a:r>
              <a:rPr lang="en-US" dirty="0">
                <a:solidFill>
                  <a:schemeClr val="bg1"/>
                </a:solidFill>
              </a:rPr>
              <a:t>low incomes (&lt; 5,000) and very high incomes (&gt; 28,000) are </a:t>
            </a:r>
            <a:r>
              <a:rPr lang="en-US" dirty="0" smtClean="0">
                <a:solidFill>
                  <a:schemeClr val="bg1"/>
                </a:solidFill>
              </a:rPr>
              <a:t>  rare.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Highest Frequency Group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The most common incomes are between </a:t>
            </a:r>
            <a:r>
              <a:rPr lang="en-US" b="1" dirty="0">
                <a:solidFill>
                  <a:schemeClr val="bg1"/>
                </a:solidFill>
              </a:rPr>
              <a:t>10,000 and 16,000</a:t>
            </a:r>
            <a:r>
              <a:rPr lang="en-US" dirty="0">
                <a:solidFill>
                  <a:schemeClr val="bg1"/>
                </a:solidFill>
              </a:rPr>
              <a:t>, where the histogram peaks.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This indicates that </a:t>
            </a:r>
            <a:r>
              <a:rPr lang="en-US" b="1" dirty="0">
                <a:solidFill>
                  <a:schemeClr val="bg1"/>
                </a:solidFill>
              </a:rPr>
              <a:t>majority of loan applicants fall in middle-income range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KDE </a:t>
            </a:r>
            <a:r>
              <a:rPr lang="en-US" b="1" dirty="0" smtClean="0">
                <a:solidFill>
                  <a:schemeClr val="bg1"/>
                </a:solidFill>
              </a:rPr>
              <a:t>(Kernel  Density  Estimate ) Interpretation</a:t>
            </a: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KDE curve peaks around </a:t>
            </a:r>
            <a:r>
              <a:rPr lang="en-US" b="1" dirty="0">
                <a:solidFill>
                  <a:schemeClr val="bg1"/>
                </a:solidFill>
              </a:rPr>
              <a:t>13,000–15,000</a:t>
            </a:r>
            <a:r>
              <a:rPr lang="en-US" dirty="0">
                <a:solidFill>
                  <a:schemeClr val="bg1"/>
                </a:solidFill>
              </a:rPr>
              <a:t>, confirming this is the </a:t>
            </a:r>
            <a:r>
              <a:rPr lang="en-US" b="1" dirty="0">
                <a:solidFill>
                  <a:schemeClr val="bg1"/>
                </a:solidFill>
              </a:rPr>
              <a:t>most common income zone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KDE curve smoothness confirms the </a:t>
            </a:r>
            <a:r>
              <a:rPr lang="en-US" b="1" dirty="0">
                <a:solidFill>
                  <a:schemeClr val="bg1"/>
                </a:solidFill>
              </a:rPr>
              <a:t>distribution is continuous</a:t>
            </a:r>
            <a:r>
              <a:rPr lang="en-US" dirty="0">
                <a:solidFill>
                  <a:schemeClr val="bg1"/>
                </a:solidFill>
              </a:rPr>
              <a:t> with no unusual gaps.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451216" y="-26845"/>
            <a:ext cx="8558066" cy="8573655"/>
          </a:xfrm>
          <a:custGeom>
            <a:avLst/>
            <a:gdLst/>
            <a:ahLst/>
            <a:cxnLst/>
            <a:rect l="l" t="t" r="r" b="b"/>
            <a:pathLst>
              <a:path w="8558066" h="8573655">
                <a:moveTo>
                  <a:pt x="0" y="0"/>
                </a:moveTo>
                <a:lnTo>
                  <a:pt x="8558067" y="0"/>
                </a:lnTo>
                <a:lnTo>
                  <a:pt x="8558067" y="8573655"/>
                </a:lnTo>
                <a:lnTo>
                  <a:pt x="0" y="857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 b="1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730249" y="663200"/>
            <a:ext cx="1421291" cy="32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1" spc="3" dirty="0">
                <a:solidFill>
                  <a:schemeClr val="tx2">
                    <a:lumMod val="7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</a:t>
            </a:r>
            <a:r>
              <a:rPr lang="en-US" b="1" spc="3" dirty="0" smtClean="0">
                <a:solidFill>
                  <a:schemeClr val="tx2">
                    <a:lumMod val="7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09</a:t>
            </a:r>
            <a:endParaRPr lang="en-US" b="1" spc="3" dirty="0">
              <a:solidFill>
                <a:schemeClr val="tx2">
                  <a:lumMod val="7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3" name="Freeform 13"/>
          <p:cNvSpPr/>
          <p:nvPr/>
        </p:nvSpPr>
        <p:spPr>
          <a:xfrm rot="-5400000" flipH="1" flipV="1">
            <a:off x="-410071" y="4302888"/>
            <a:ext cx="6611341" cy="6611341"/>
          </a:xfrm>
          <a:custGeom>
            <a:avLst/>
            <a:gdLst/>
            <a:ahLst/>
            <a:cxnLst/>
            <a:rect l="l" t="t" r="r" b="b"/>
            <a:pathLst>
              <a:path w="6611341" h="6611341">
                <a:moveTo>
                  <a:pt x="6611341" y="6611341"/>
                </a:moveTo>
                <a:lnTo>
                  <a:pt x="0" y="6611341"/>
                </a:lnTo>
                <a:lnTo>
                  <a:pt x="0" y="0"/>
                </a:lnTo>
                <a:lnTo>
                  <a:pt x="6611341" y="0"/>
                </a:lnTo>
                <a:lnTo>
                  <a:pt x="6611341" y="661134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86000" y="576467"/>
            <a:ext cx="8458200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tx2">
                    <a:lumMod val="75000"/>
                  </a:schemeClr>
                </a:solidFill>
                <a:latin typeface="Bahnschrift Light" pitchFamily="34" charset="0"/>
              </a:rPr>
              <a:t>Graphical  Representation-Part3</a:t>
            </a:r>
            <a:endParaRPr lang="en-IN" sz="4000" b="1" dirty="0">
              <a:solidFill>
                <a:schemeClr val="tx2">
                  <a:lumMod val="75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1950" y="1905000"/>
            <a:ext cx="2533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IN" sz="3200" b="1" dirty="0" smtClean="0">
                <a:solidFill>
                  <a:schemeClr val="tx2">
                    <a:lumMod val="75000"/>
                  </a:schemeClr>
                </a:solidFill>
              </a:rPr>
              <a:t>Box-plot</a:t>
            </a:r>
            <a:endParaRPr lang="en-IN"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0" y="2197387"/>
            <a:ext cx="27432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IN" sz="2800" b="1" dirty="0" smtClean="0">
                <a:solidFill>
                  <a:schemeClr val="tx2">
                    <a:lumMod val="75000"/>
                  </a:schemeClr>
                </a:solidFill>
              </a:rPr>
              <a:t>Observations</a:t>
            </a:r>
            <a:endParaRPr lang="en-IN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33081" y="3086099"/>
            <a:ext cx="779940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Median Loan </a:t>
            </a:r>
            <a:r>
              <a:rPr lang="en-US" b="1" dirty="0" smtClean="0">
                <a:solidFill>
                  <a:schemeClr val="bg1"/>
                </a:solidFill>
              </a:rPr>
              <a:t>Amount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b="1" dirty="0" smtClean="0">
                <a:solidFill>
                  <a:schemeClr val="bg1"/>
                </a:solidFill>
              </a:rPr>
              <a:t>Default (Y)</a:t>
            </a:r>
            <a:r>
              <a:rPr lang="en-US" dirty="0" smtClean="0">
                <a:solidFill>
                  <a:schemeClr val="bg1"/>
                </a:solidFill>
              </a:rPr>
              <a:t> group has a </a:t>
            </a:r>
            <a:r>
              <a:rPr lang="en-US" b="1" dirty="0" smtClean="0">
                <a:solidFill>
                  <a:schemeClr val="bg1"/>
                </a:solidFill>
              </a:rPr>
              <a:t>slightly higher median</a:t>
            </a:r>
            <a:r>
              <a:rPr lang="en-US" dirty="0" smtClean="0">
                <a:solidFill>
                  <a:schemeClr val="bg1"/>
                </a:solidFill>
              </a:rPr>
              <a:t> loan amount than the </a:t>
            </a:r>
            <a:r>
              <a:rPr lang="en-US" b="1" dirty="0" smtClean="0">
                <a:solidFill>
                  <a:schemeClr val="bg1"/>
                </a:solidFill>
              </a:rPr>
              <a:t>Non-default (N)</a:t>
            </a:r>
            <a:r>
              <a:rPr lang="en-US" dirty="0" smtClean="0">
                <a:solidFill>
                  <a:schemeClr val="bg1"/>
                </a:solidFill>
              </a:rPr>
              <a:t> group.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 smtClean="0">
                <a:solidFill>
                  <a:schemeClr val="bg1"/>
                </a:solidFill>
              </a:rPr>
              <a:t>This </a:t>
            </a:r>
            <a:r>
              <a:rPr lang="en-US" dirty="0">
                <a:solidFill>
                  <a:schemeClr val="bg1"/>
                </a:solidFill>
              </a:rPr>
              <a:t>indicates that applicants who default generally took </a:t>
            </a:r>
            <a:r>
              <a:rPr lang="en-US" b="1" dirty="0">
                <a:solidFill>
                  <a:schemeClr val="bg1"/>
                </a:solidFill>
              </a:rPr>
              <a:t>higher loan amounts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Loan Amount </a:t>
            </a:r>
            <a:r>
              <a:rPr lang="en-US" b="1" dirty="0" smtClean="0">
                <a:solidFill>
                  <a:schemeClr val="bg1"/>
                </a:solidFill>
              </a:rPr>
              <a:t>Spread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Y (Default)</a:t>
            </a:r>
            <a:r>
              <a:rPr lang="en-US" dirty="0">
                <a:solidFill>
                  <a:schemeClr val="bg1"/>
                </a:solidFill>
              </a:rPr>
              <a:t> group shows </a:t>
            </a:r>
            <a:r>
              <a:rPr lang="en-US" b="1" dirty="0">
                <a:solidFill>
                  <a:schemeClr val="bg1"/>
                </a:solidFill>
              </a:rPr>
              <a:t>larger variability</a:t>
            </a:r>
            <a:r>
              <a:rPr lang="en-US" dirty="0">
                <a:solidFill>
                  <a:schemeClr val="bg1"/>
                </a:solidFill>
              </a:rPr>
              <a:t> in loan amounts.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N (Non-default)</a:t>
            </a:r>
            <a:r>
              <a:rPr lang="en-US" dirty="0">
                <a:solidFill>
                  <a:schemeClr val="bg1"/>
                </a:solidFill>
              </a:rPr>
              <a:t> group has a narrower spread, indicating more consistent loan amounts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IQR (Box Height) Comparison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Y group</a:t>
            </a:r>
            <a:r>
              <a:rPr lang="en-US" dirty="0">
                <a:solidFill>
                  <a:schemeClr val="bg1"/>
                </a:solidFill>
              </a:rPr>
              <a:t> has a </a:t>
            </a:r>
            <a:r>
              <a:rPr lang="en-US" b="1" dirty="0">
                <a:solidFill>
                  <a:schemeClr val="bg1"/>
                </a:solidFill>
              </a:rPr>
              <a:t>wider IQR</a:t>
            </a:r>
            <a:r>
              <a:rPr lang="en-US" dirty="0">
                <a:solidFill>
                  <a:schemeClr val="bg1"/>
                </a:solidFill>
              </a:rPr>
              <a:t>, meaning loan amounts for defaulters vary significantly.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N group</a:t>
            </a:r>
            <a:r>
              <a:rPr lang="en-US" dirty="0">
                <a:solidFill>
                  <a:schemeClr val="bg1"/>
                </a:solidFill>
              </a:rPr>
              <a:t> is more compact, suggesting non-defaulters are more uniform in loan amounts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 descr="C:\Users\PARAMITA\Pictures\Screenshots\Screenshot (118)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49" y="2720606"/>
            <a:ext cx="8585428" cy="6156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PARAMITA\Pictures\Screenshots\Screenshot (133)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0248" y="8796290"/>
            <a:ext cx="2310101" cy="126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823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9722139" y="16060"/>
            <a:ext cx="8558066" cy="8573655"/>
          </a:xfrm>
          <a:custGeom>
            <a:avLst/>
            <a:gdLst/>
            <a:ahLst/>
            <a:cxnLst/>
            <a:rect l="l" t="t" r="r" b="b"/>
            <a:pathLst>
              <a:path w="8558066" h="8573655">
                <a:moveTo>
                  <a:pt x="0" y="0"/>
                </a:moveTo>
                <a:lnTo>
                  <a:pt x="8558067" y="0"/>
                </a:lnTo>
                <a:lnTo>
                  <a:pt x="8558067" y="8573655"/>
                </a:lnTo>
                <a:lnTo>
                  <a:pt x="0" y="857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1600" b="1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730249" y="663200"/>
            <a:ext cx="1421291" cy="32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1" spc="3" dirty="0">
                <a:solidFill>
                  <a:schemeClr val="tx2">
                    <a:lumMod val="7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</a:t>
            </a:r>
            <a:r>
              <a:rPr lang="en-US" b="1" spc="3" dirty="0" smtClean="0">
                <a:solidFill>
                  <a:schemeClr val="tx2">
                    <a:lumMod val="7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  <a:endParaRPr lang="en-US" b="1" spc="3" dirty="0">
              <a:solidFill>
                <a:schemeClr val="tx2">
                  <a:lumMod val="7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3" name="Freeform 13"/>
          <p:cNvSpPr/>
          <p:nvPr/>
        </p:nvSpPr>
        <p:spPr>
          <a:xfrm rot="-5400000" flipH="1" flipV="1">
            <a:off x="-410071" y="4302888"/>
            <a:ext cx="6611341" cy="6611341"/>
          </a:xfrm>
          <a:custGeom>
            <a:avLst/>
            <a:gdLst/>
            <a:ahLst/>
            <a:cxnLst/>
            <a:rect l="l" t="t" r="r" b="b"/>
            <a:pathLst>
              <a:path w="6611341" h="6611341">
                <a:moveTo>
                  <a:pt x="6611341" y="6611341"/>
                </a:moveTo>
                <a:lnTo>
                  <a:pt x="0" y="6611341"/>
                </a:lnTo>
                <a:lnTo>
                  <a:pt x="0" y="0"/>
                </a:lnTo>
                <a:lnTo>
                  <a:pt x="6611341" y="0"/>
                </a:lnTo>
                <a:lnTo>
                  <a:pt x="6611341" y="661134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/>
          <p:cNvSpPr txBox="1"/>
          <p:nvPr/>
        </p:nvSpPr>
        <p:spPr>
          <a:xfrm>
            <a:off x="2286000" y="576467"/>
            <a:ext cx="8458200" cy="7078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tx2">
                    <a:lumMod val="75000"/>
                  </a:schemeClr>
                </a:solidFill>
                <a:latin typeface="Bahnschrift Light" pitchFamily="34" charset="0"/>
              </a:rPr>
              <a:t>Graphical  Representation-Part4</a:t>
            </a:r>
            <a:endParaRPr lang="en-IN" sz="4000" b="1" dirty="0">
              <a:solidFill>
                <a:schemeClr val="tx2">
                  <a:lumMod val="75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1950" y="1905000"/>
            <a:ext cx="2533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IN" sz="3200" b="1" dirty="0" err="1" smtClean="0">
                <a:solidFill>
                  <a:schemeClr val="tx2">
                    <a:lumMod val="75000"/>
                  </a:schemeClr>
                </a:solidFill>
              </a:rPr>
              <a:t>Heatmap</a:t>
            </a:r>
            <a:endParaRPr lang="en-IN"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72600" y="2152650"/>
            <a:ext cx="2743200" cy="52322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IN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Observations</a:t>
            </a:r>
            <a:endParaRPr lang="en-I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199" y="3086100"/>
            <a:ext cx="77994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</a:rPr>
              <a:t>The darker the color (closer to dark blue), the stronger the positive correlation (values closer to +1.00</a:t>
            </a:r>
            <a:r>
              <a:rPr lang="en-US" sz="2000" b="1" dirty="0" smtClean="0">
                <a:solidFill>
                  <a:schemeClr val="bg1"/>
                </a:solidFill>
              </a:rPr>
              <a:t>).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b="1" dirty="0">
                <a:solidFill>
                  <a:schemeClr val="bg1"/>
                </a:solidFill>
              </a:rPr>
              <a:t>lighter the color (closer to white/light blue)</a:t>
            </a:r>
            <a:r>
              <a:rPr lang="en-US" sz="2000" dirty="0">
                <a:solidFill>
                  <a:schemeClr val="bg1"/>
                </a:solidFill>
              </a:rPr>
              <a:t>, the </a:t>
            </a:r>
            <a:r>
              <a:rPr lang="en-US" sz="2000" b="1" dirty="0">
                <a:solidFill>
                  <a:schemeClr val="bg1"/>
                </a:solidFill>
              </a:rPr>
              <a:t>weaker the correlation</a:t>
            </a:r>
            <a:r>
              <a:rPr lang="en-US" sz="2000" dirty="0">
                <a:solidFill>
                  <a:schemeClr val="bg1"/>
                </a:solidFill>
              </a:rPr>
              <a:t> (values closer to 0.00</a:t>
            </a:r>
            <a:r>
              <a:rPr lang="en-US" sz="2000" dirty="0" smtClean="0">
                <a:solidFill>
                  <a:schemeClr val="bg1"/>
                </a:solidFill>
              </a:rPr>
              <a:t>).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b="1" dirty="0">
                <a:solidFill>
                  <a:schemeClr val="bg1"/>
                </a:solidFill>
              </a:rPr>
              <a:t>darkest color at the bottom (if present)</a:t>
            </a:r>
            <a:r>
              <a:rPr lang="en-US" sz="2000" dirty="0">
                <a:solidFill>
                  <a:schemeClr val="bg1"/>
                </a:solidFill>
              </a:rPr>
              <a:t> would indicate a </a:t>
            </a:r>
            <a:r>
              <a:rPr lang="en-US" sz="2000" b="1" dirty="0">
                <a:solidFill>
                  <a:schemeClr val="bg1"/>
                </a:solidFill>
              </a:rPr>
              <a:t>strong negative correlation</a:t>
            </a:r>
            <a:r>
              <a:rPr lang="en-US" sz="2000" dirty="0">
                <a:solidFill>
                  <a:schemeClr val="bg1"/>
                </a:solidFill>
              </a:rPr>
              <a:t> (values closer to -1.00).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The diagonal is always  </a:t>
            </a:r>
            <a:r>
              <a:rPr lang="en-US" sz="2000" dirty="0" smtClean="0">
                <a:solidFill>
                  <a:schemeClr val="bg1"/>
                </a:solidFill>
              </a:rPr>
              <a:t>1.00  </a:t>
            </a:r>
            <a:r>
              <a:rPr lang="en-US" sz="2000" dirty="0">
                <a:solidFill>
                  <a:schemeClr val="bg1"/>
                </a:solidFill>
              </a:rPr>
              <a:t>because a variable is perfectly correlated with itself.</a:t>
            </a:r>
          </a:p>
          <a:p>
            <a:pPr marL="342900" indent="-342900">
              <a:buFont typeface="Wingdings" pitchFamily="2" charset="2"/>
              <a:buChar char="ü"/>
            </a:pP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3074" name="Picture 2" descr="C:\Users\PARAMITA\Pictures\Screenshots\Screenshot (119)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2533832"/>
            <a:ext cx="8705850" cy="6419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:\Users\PARAMITA\Pictures\Screenshots\Screenshot (132)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1179" y="8191499"/>
            <a:ext cx="2587746" cy="127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726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7876765" y="319853"/>
            <a:ext cx="10458860" cy="10477911"/>
          </a:xfrm>
          <a:custGeom>
            <a:avLst/>
            <a:gdLst/>
            <a:ahLst/>
            <a:cxnLst/>
            <a:rect l="l" t="t" r="r" b="b"/>
            <a:pathLst>
              <a:path w="10458860" h="10477911">
                <a:moveTo>
                  <a:pt x="10458860" y="0"/>
                </a:moveTo>
                <a:lnTo>
                  <a:pt x="0" y="0"/>
                </a:lnTo>
                <a:lnTo>
                  <a:pt x="0" y="10477911"/>
                </a:lnTo>
                <a:lnTo>
                  <a:pt x="10458860" y="10477911"/>
                </a:lnTo>
                <a:lnTo>
                  <a:pt x="104588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flipH="1" flipV="1">
            <a:off x="609600" y="4381500"/>
            <a:ext cx="2750861" cy="2750861"/>
          </a:xfrm>
          <a:custGeom>
            <a:avLst/>
            <a:gdLst/>
            <a:ahLst/>
            <a:cxnLst/>
            <a:rect l="l" t="t" r="r" b="b"/>
            <a:pathLst>
              <a:path w="2750861" h="2750861">
                <a:moveTo>
                  <a:pt x="2750861" y="2750861"/>
                </a:moveTo>
                <a:lnTo>
                  <a:pt x="0" y="2750861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730249" y="663200"/>
            <a:ext cx="1421291" cy="327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 dirty="0">
                <a:solidFill>
                  <a:schemeClr val="tx2">
                    <a:lumMod val="40000"/>
                    <a:lumOff val="60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</a:t>
            </a:r>
            <a:r>
              <a:rPr lang="en-US" sz="1999" b="1" spc="3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  <a:endParaRPr lang="en-US" sz="1999" b="1" spc="3" dirty="0">
              <a:solidFill>
                <a:schemeClr val="tx2">
                  <a:lumMod val="40000"/>
                  <a:lumOff val="60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95800" y="1262996"/>
            <a:ext cx="4800600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IN" sz="4000" dirty="0"/>
              <a:t>✅</a:t>
            </a:r>
            <a:r>
              <a:rPr lang="en-IN" sz="40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Future Scope</a:t>
            </a:r>
            <a:endParaRPr lang="en-IN" sz="4000" b="1" dirty="0">
              <a:solidFill>
                <a:schemeClr val="tx2">
                  <a:lumMod val="40000"/>
                  <a:lumOff val="60000"/>
                </a:schemeClr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81400" y="2386776"/>
            <a:ext cx="8229600" cy="674030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Integrate advanced ML models such as Gradient Boosting, </a:t>
            </a:r>
            <a:r>
              <a:rPr lang="en-U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XGBoost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LightGBM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for higher prediction accuracy.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Deploy the model as a web or mobile app for real-time loan risk assessment.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Include alternative data sources (transaction history, spending patterns, credit bureau scores) for richer feature engineering.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Apply deep learning models for complex pattern recognition in large datasets.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Implement automated feature selection and </a:t>
            </a:r>
            <a:r>
              <a:rPr lang="en-U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hyperparameter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tuning to improve model generalization.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Use graph-based relationships (co-borrowers, shared addresses, credit links) to detect hidden risk patterns.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Integrate fraud detection mechanisms using anomaly detection algorithms.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Expand dataset size to improve robustness and reduce model bias.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33" name="Picture 9" descr="C:\Users\PARAMITA\Pictures\Screenshots\Screenshot (127)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2303" y="1714500"/>
            <a:ext cx="3613806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057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1179" y="576468"/>
            <a:ext cx="1919429" cy="566532"/>
            <a:chOff x="0" y="0"/>
            <a:chExt cx="505529" cy="149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529" cy="149210"/>
            </a:xfrm>
            <a:custGeom>
              <a:avLst/>
              <a:gdLst/>
              <a:ahLst/>
              <a:cxnLst/>
              <a:rect l="l" t="t" r="r" b="b"/>
              <a:pathLst>
                <a:path w="505529" h="149210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768349" y="663200"/>
            <a:ext cx="14212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3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</a:t>
            </a:r>
            <a:r>
              <a:rPr lang="en-US" sz="1999" b="1" spc="3" dirty="0" smtClean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  <a:endParaRPr lang="en-US" sz="1999" b="1" spc="3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2" name="Freeform 12"/>
          <p:cNvSpPr/>
          <p:nvPr/>
        </p:nvSpPr>
        <p:spPr>
          <a:xfrm rot="-5400000">
            <a:off x="5443169" y="-2557831"/>
            <a:ext cx="7401663" cy="18288000"/>
          </a:xfrm>
          <a:custGeom>
            <a:avLst/>
            <a:gdLst/>
            <a:ahLst/>
            <a:cxnLst/>
            <a:rect l="l" t="t" r="r" b="b"/>
            <a:pathLst>
              <a:path w="7401663" h="18288000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 l="-3701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601336" y="3321784"/>
            <a:ext cx="8370898" cy="269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2"/>
              </a:lnSpc>
              <a:spcBef>
                <a:spcPct val="0"/>
              </a:spcBef>
            </a:pPr>
            <a:r>
              <a:rPr lang="en-US" sz="15901" spc="-74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Thank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96029" y="8835324"/>
            <a:ext cx="1274721" cy="42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96971" y="3315762"/>
            <a:ext cx="6728953" cy="269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2"/>
              </a:lnSpc>
              <a:spcBef>
                <a:spcPct val="0"/>
              </a:spcBef>
            </a:pPr>
            <a:r>
              <a:rPr lang="en-US" sz="15901" b="1" spc="-747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758</Words>
  <Application>Microsoft Office PowerPoint</Application>
  <PresentationFormat>Custom</PresentationFormat>
  <Paragraphs>163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Open Sauce</vt:lpstr>
      <vt:lpstr>Arial Narrow</vt:lpstr>
      <vt:lpstr>Arial Unicode MS</vt:lpstr>
      <vt:lpstr>Calibri</vt:lpstr>
      <vt:lpstr>Open Sauce Heavy</vt:lpstr>
      <vt:lpstr>Open Sauce Light</vt:lpstr>
      <vt:lpstr>Open Sauce Bold</vt:lpstr>
      <vt:lpstr>Courier New</vt:lpstr>
      <vt:lpstr>Bahnschrift Light Condensed</vt:lpstr>
      <vt:lpstr>Bahnschrift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Purple Modern Programming Presentation</dc:title>
  <dc:creator>PARAMITA</dc:creator>
  <cp:lastModifiedBy>PARAMITA</cp:lastModifiedBy>
  <cp:revision>51</cp:revision>
  <dcterms:created xsi:type="dcterms:W3CDTF">2006-08-16T00:00:00Z</dcterms:created>
  <dcterms:modified xsi:type="dcterms:W3CDTF">2025-11-16T13:03:23Z</dcterms:modified>
  <dc:identifier>DAG4mrxYFDM</dc:identifier>
</cp:coreProperties>
</file>